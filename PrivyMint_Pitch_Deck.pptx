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3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13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31520" y="1417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7CF6"/>
                </a:solidFill>
                <a:latin typeface="Calibri"/>
                <a:ea typeface="Calibri"/>
                <a:cs typeface="Calibri"/>
                <a:sym typeface="Calibri"/>
              </a:rPr>
              <a:t>MIDNIGHT NETWORK · MOONSHOTS PROGRAM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85800" y="182880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PrivyMint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29718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Own Premium Digital Assets Together — Privately.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37033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A privacy-first NFT fractionalization protocol built natively on Midnight Network, using zero-knowledge smart contracts to enable shared ownership without exposing investor identity.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Rahul Pandey  |  Founder  |  web-puce-seven-56.vercel.app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Fractional ownership today forces a privacy trade-off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874520"/>
            <a:ext cx="3520440" cy="3063240"/>
          </a:xfrm>
          <a:prstGeom prst="roundRect">
            <a:avLst>
              <a:gd fmla="val 2985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68680" y="292608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Full public exposure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868680" y="347472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Every buyer's wallet address, share count, and full transaction history is permanently visible on EVM ledgers.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389120" y="1874520"/>
            <a:ext cx="3520440" cy="3063240"/>
          </a:xfrm>
          <a:prstGeom prst="roundRect">
            <a:avLst>
              <a:gd fmla="val 2985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709160" y="2194560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70916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709160" y="292608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Institutions stay out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09160" y="347472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Serious collectors, DAOs, and funds won't co-invest in high-value assets when portfolio size becomes public knowledge.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229600" y="1874520"/>
            <a:ext cx="3520440" cy="3063240"/>
          </a:xfrm>
          <a:prstGeom prst="roundRect">
            <a:avLst>
              <a:gd fmla="val 2985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B1F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549640" y="2194560"/>
            <a:ext cx="502920" cy="50292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54964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549640" y="292608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No selective proof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549640" y="347472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There's no way to prove you're a qualified co-owner without revealing exactly how much you hold.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5257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Result: high-value NFTs stay illiquid, and privacy-conscious capital stays on the sidelines.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PrivyMint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Solution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98755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Fractional ownership, proven privately with zero-knowledge contracts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fmla="val 6667" name="adj"/>
            </a:avLst>
          </a:prstGeom>
          <a:solidFill>
            <a:srgbClr val="13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914400" y="1691640"/>
            <a:ext cx="10424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NFTs are locked into Compact smart contracts and split into tradable fractional shares. Investors buy in, hold, and transfer shares without ever revealing wallet address, balance, or history on-chain.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3429000"/>
            <a:ext cx="2286000" cy="1371600"/>
          </a:xfrm>
          <a:prstGeom prst="roundRect">
            <a:avLst>
              <a:gd fmla="val 6667" name="adj"/>
            </a:avLst>
          </a:prstGeom>
          <a:solidFill>
            <a:srgbClr val="13162B"/>
          </a:solidFill>
          <a:ln cap="flat" cmpd="sng" w="12700">
            <a:solidFill>
              <a:srgbClr val="34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731520" y="35661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31520" y="39776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NFT Locked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889504" y="3886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401568" y="3429000"/>
            <a:ext cx="2286000" cy="1371600"/>
          </a:xfrm>
          <a:prstGeom prst="roundRect">
            <a:avLst>
              <a:gd fmla="val 6667" name="adj"/>
            </a:avLst>
          </a:prstGeom>
          <a:solidFill>
            <a:srgbClr val="13162B"/>
          </a:solidFill>
          <a:ln cap="flat" cmpd="sng" w="12700">
            <a:solidFill>
              <a:srgbClr val="34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584448" y="35661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584448" y="39776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Shares Issued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742432" y="3886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254496" y="3429000"/>
            <a:ext cx="2286000" cy="1371600"/>
          </a:xfrm>
          <a:prstGeom prst="roundRect">
            <a:avLst>
              <a:gd fmla="val 6667" name="adj"/>
            </a:avLst>
          </a:prstGeom>
          <a:solidFill>
            <a:srgbClr val="13162B"/>
          </a:solidFill>
          <a:ln cap="flat" cmpd="sng" w="12700">
            <a:solidFill>
              <a:srgbClr val="34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437376" y="35661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37376" y="39776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Private Purchase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595360" y="3886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107424" y="3429000"/>
            <a:ext cx="2286000" cy="1371600"/>
          </a:xfrm>
          <a:prstGeom prst="roundRect">
            <a:avLst>
              <a:gd fmla="val 6667" name="adj"/>
            </a:avLst>
          </a:prstGeom>
          <a:solidFill>
            <a:srgbClr val="8B7CF6"/>
          </a:solidFill>
          <a:ln cap="flat" cmpd="sng" w="12700">
            <a:solidFill>
              <a:srgbClr val="34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9290304" y="35661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62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3162B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9290304" y="3977640"/>
            <a:ext cx="1920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Selective Proof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48640" y="516636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Investors prove they hold ≥ N shares to unlock DAO access or gated communities — without disclosing their wallet or exact balance.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PrivyMint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Privacy Model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What's public vs. what stays private, by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48640" y="1828800"/>
            <a:ext cx="5257800" cy="37490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914400" y="219456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548640" y="2194560"/>
            <a:ext cx="5257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PUBLIC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914400" y="2788920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NFT metadata hash (IPFS CID)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914400" y="3227832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Total fractional shares issued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914400" y="3666744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Share price in DUST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914400" y="4105656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Aggregate shares sold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14400" y="4544568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Listing status (active / closed)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914400" y="4983480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Creator identity commitment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355080" y="1828800"/>
            <a:ext cx="5257800" cy="3749040"/>
          </a:xfrm>
          <a:prstGeom prst="roundRect">
            <a:avLst>
              <a:gd fmla="val 2439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720840" y="2194560"/>
            <a:ext cx="411480" cy="411480"/>
          </a:xfrm>
          <a:prstGeom prst="ellipse">
            <a:avLst/>
          </a:prstGeom>
          <a:solidFill>
            <a:srgbClr val="8B7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6355080" y="2194560"/>
            <a:ext cx="5257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PRIVATE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720840" y="2788920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Investor wallet address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720840" y="3227832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Individual share balances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720840" y="3666744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capital invested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720840" y="4105656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Purchase &amp; transfer history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6720840" y="4544568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Remaining wallet balance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720840" y="4983480"/>
            <a:ext cx="4526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Full portfolio composition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PrivyMint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Who It's For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Built for buyers who need privacy, not just access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822960" y="214884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804672" y="2926080"/>
            <a:ext cx="2093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NFT Collectors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04672" y="3703320"/>
            <a:ext cx="209397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Priced out of blue-chip assets; want fractional exposure without full capital commitment.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410712" y="187452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3685032" y="214884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8B7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3666744" y="2926080"/>
            <a:ext cx="2093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DAOs &amp; Gaming Guilds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666744" y="3703320"/>
            <a:ext cx="209397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Pool capital to co-own shared digital assets as a collective.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272784" y="187452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547104" y="214884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528816" y="2926080"/>
            <a:ext cx="2093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Privacy-Conscious Investors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528816" y="3703320"/>
            <a:ext cx="209397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Won't participate in fractional ownership if wallet and holdings are public.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9134856" y="1874520"/>
            <a:ext cx="2606040" cy="3566160"/>
          </a:xfrm>
          <a:prstGeom prst="roundRect">
            <a:avLst>
              <a:gd fmla="val 3509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9409176" y="2148840"/>
            <a:ext cx="548640" cy="548640"/>
          </a:xfrm>
          <a:prstGeom prst="roundRect">
            <a:avLst>
              <a:gd fmla="val 20000" name="adj"/>
            </a:avLst>
          </a:prstGeom>
          <a:solidFill>
            <a:srgbClr val="8B7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9390888" y="2926080"/>
            <a:ext cx="20939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RWA Tokenization Projects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9390888" y="3703320"/>
            <a:ext cx="209397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Future expansion path — a privacy-preserving ownership layer beyond NFTs.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PrivyMint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We Are Today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Shipped and functioning — not a concept deck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48640" y="1874520"/>
            <a:ext cx="2606040" cy="1737360"/>
          </a:xfrm>
          <a:prstGeom prst="roundRect">
            <a:avLst>
              <a:gd fmla="val 5263" name="adj"/>
            </a:avLst>
          </a:prstGeom>
          <a:solidFill>
            <a:srgbClr val="13162B"/>
          </a:solidFill>
          <a:ln cap="flat" cmpd="sng" w="12700">
            <a:solidFill>
              <a:srgbClr val="34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548640" y="2039112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85800" y="292608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Compact circuits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compiled, 0 errors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429000" y="1874520"/>
            <a:ext cx="2606040" cy="1737360"/>
          </a:xfrm>
          <a:prstGeom prst="roundRect">
            <a:avLst>
              <a:gd fmla="val 5263" name="adj"/>
            </a:avLst>
          </a:prstGeom>
          <a:solidFill>
            <a:srgbClr val="13162B"/>
          </a:solidFill>
          <a:ln cap="flat" cmpd="sng" w="12700">
            <a:solidFill>
              <a:srgbClr val="34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3429000" y="2039112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11/11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566160" y="292608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API tests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passing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309360" y="1874520"/>
            <a:ext cx="2606040" cy="1737360"/>
          </a:xfrm>
          <a:prstGeom prst="roundRect">
            <a:avLst>
              <a:gd fmla="val 5263" name="adj"/>
            </a:avLst>
          </a:prstGeom>
          <a:solidFill>
            <a:srgbClr val="13162B"/>
          </a:solidFill>
          <a:ln cap="flat" cmpd="sng" w="12700">
            <a:solidFill>
              <a:srgbClr val="34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309360" y="2039112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446520" y="292608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Moonshots levels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189720" y="1874520"/>
            <a:ext cx="2606040" cy="1737360"/>
          </a:xfrm>
          <a:prstGeom prst="roundRect">
            <a:avLst>
              <a:gd fmla="val 5263" name="adj"/>
            </a:avLst>
          </a:prstGeom>
          <a:solidFill>
            <a:srgbClr val="13162B"/>
          </a:solidFill>
          <a:ln cap="flat" cmpd="sng" w="12700">
            <a:solidFill>
              <a:srgbClr val="343A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9189720" y="2039112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9326880" y="292608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Networks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(Preview + Preprod)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548640" y="3886200"/>
            <a:ext cx="11064240" cy="1783080"/>
          </a:xfrm>
          <a:prstGeom prst="roundRect">
            <a:avLst>
              <a:gd fmla="val 5128" name="adj"/>
            </a:avLst>
          </a:prstGeom>
          <a:solidFill>
            <a:srgbClr val="13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Live Deployment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914400" y="452628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Frontend: </a:t>
            </a:r>
            <a:r>
              <a:rPr b="0" i="0" lang="en-US" sz="125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web-puce-seven-56.vercel.app</a:t>
            </a:r>
            <a:br>
              <a:rPr b="0" i="0" lang="en-US" sz="125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Contract: </a:t>
            </a:r>
            <a:r>
              <a:rPr b="0" i="0" lang="en-US" sz="125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Compiled clean, deployed on Preview &amp; Preprod</a:t>
            </a:r>
            <a:br>
              <a:rPr b="0" i="0" lang="en-US" sz="125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Next: </a:t>
            </a:r>
            <a:r>
              <a:rPr b="0" i="0" lang="en-US" sz="125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Mainnet deployment, pending Midnight backend infra stabilization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PrivyMint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Roadmap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Built to evolve — one product, continuous progression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9"/>
          <p:cNvCxnSpPr/>
          <p:nvPr/>
        </p:nvCxnSpPr>
        <p:spPr>
          <a:xfrm>
            <a:off x="914400" y="3429000"/>
            <a:ext cx="10332720" cy="0"/>
          </a:xfrm>
          <a:prstGeom prst="straightConnector1">
            <a:avLst/>
          </a:prstGeom>
          <a:noFill/>
          <a:ln cap="flat" cmpd="sng" w="25400">
            <a:solidFill>
              <a:srgbClr val="D5D9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9"/>
          <p:cNvSpPr/>
          <p:nvPr/>
        </p:nvSpPr>
        <p:spPr>
          <a:xfrm>
            <a:off x="1610868" y="3264408"/>
            <a:ext cx="329184" cy="329184"/>
          </a:xfrm>
          <a:prstGeom prst="ellipse">
            <a:avLst/>
          </a:prstGeom>
          <a:solidFill>
            <a:srgbClr val="8B7CF6"/>
          </a:solidFill>
          <a:ln cap="flat" cmpd="sng" w="25400">
            <a:solidFill>
              <a:srgbClr val="8B7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1043940" y="23774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v0.1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906780" y="384048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Fractional Marketplace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332988" y="3264408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AAB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2766060" y="23774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v0.2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2628900" y="384048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Secondary Share Trading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55108" y="3264408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AAB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4488180" y="23774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v0.3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351020" y="384048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DAO Governance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777228" y="3264408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AAB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6210300" y="23774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v0.4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073140" y="384048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Private Auctions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499348" y="3264408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AAB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7932420" y="23774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v0.5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7795260" y="384048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Revenue Distribution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0221468" y="3264408"/>
            <a:ext cx="329184" cy="329184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AAB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9654540" y="23774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v1.0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9517380" y="384048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Mainnet Release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48640" y="539496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B1F3B"/>
                </a:solidFill>
                <a:latin typeface="Calibri"/>
                <a:ea typeface="Calibri"/>
                <a:cs typeface="Calibri"/>
                <a:sym typeface="Calibri"/>
              </a:rPr>
              <a:t>Current status: v0.1 shipped. Architecture designed from day one to support v0.2–v1.0 without rebuilds.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PrivyMint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This Fits Midnight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Privacy as the core feature, not a compliance checkbox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8B7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6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162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234440" y="1801368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Uses Midnight's zero-knowledge disclose() model as the actual product differentiator vs. EVM fractional-NFT platforms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8B7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6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162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234440" y="2807208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Real-world utility with a live, working product — not a demo built only to satisfy program milestones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548640" y="388620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8B7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6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162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1234440" y="3813048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Extensible architecture designed for continuous monthly progression across the Moonshots levels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48640" y="489204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8B7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62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3162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234440" y="4818888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Positions Midnight for institutional and privacy-conscious capital that public-ledger platforms can't attract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PrivyMint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F3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1F3B"/>
                </a:solidFill>
                <a:latin typeface="Cambria"/>
                <a:ea typeface="Cambria"/>
                <a:cs typeface="Cambria"/>
                <a:sym typeface="Cambria"/>
              </a:rPr>
              <a:t>Founder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Shipping under real constraints, with the ecosystem experience to back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548640" y="1737360"/>
            <a:ext cx="11064240" cy="777240"/>
          </a:xfrm>
          <a:prstGeom prst="roundRect">
            <a:avLst>
              <a:gd fmla="val 11765" name="adj"/>
            </a:avLst>
          </a:prstGeom>
          <a:solidFill>
            <a:srgbClr val="1B1F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914400" y="1737360"/>
            <a:ext cx="5486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Rahul Pandey — Founder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914400" y="1737360"/>
            <a:ext cx="9784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Final-year BTech CSE  ·  AI, security &amp; DevOps tooling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48640" y="2743200"/>
            <a:ext cx="3520440" cy="3063240"/>
          </a:xfrm>
          <a:prstGeom prst="roundRect">
            <a:avLst>
              <a:gd fmla="val 2985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822960" y="299923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Shipped Products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22960" y="3520440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ArbiSim Guard — live on Avalanche, Fuji &amp; Arbitrum One; Retro9000 grant from Ava Labs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822960" y="4270248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UniDeploy — production-readiness layer for AI-generated apps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822960" y="5020056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12+ hackathons, multiple live products with zero external funding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4343400" y="2743200"/>
            <a:ext cx="3520440" cy="3063240"/>
          </a:xfrm>
          <a:prstGeom prst="roundRect">
            <a:avLst>
              <a:gd fmla="val 2985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4617720" y="299923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Web3 &amp; BD Experience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617720" y="3520440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Closed 12+ ecosystem partnerships at TempWallets, incl. India Blockchain Week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617720" y="4270248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Sourced and closed $10K in grants through structured BD/DevRel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4617720" y="5020056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Infra: AWS, GCP, CI/CD, Docker — production deployment systems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138160" y="2743200"/>
            <a:ext cx="3520440" cy="3063240"/>
          </a:xfrm>
          <a:prstGeom prst="roundRect">
            <a:avLst>
              <a:gd fmla="val 2985" name="adj"/>
            </a:avLst>
          </a:prstGeom>
          <a:solidFill>
            <a:srgbClr val="FFFFFF"/>
          </a:solidFill>
          <a:ln cap="flat" cmpd="sng" w="12700">
            <a:solidFill>
              <a:srgbClr val="E3E6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"/>
          <p:cNvSpPr/>
          <p:nvPr/>
        </p:nvSpPr>
        <p:spPr>
          <a:xfrm>
            <a:off x="8412480" y="2999232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8B7CF6"/>
                </a:solidFill>
                <a:latin typeface="Cambria"/>
                <a:ea typeface="Cambria"/>
                <a:cs typeface="Cambria"/>
                <a:sym typeface="Cambria"/>
              </a:rPr>
              <a:t>Validated By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412480" y="3520440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Google x Antler Startup Immersion — selected, Phase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412480" y="4270248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Devlabs Momentum — a16z, Antler, South Park Commons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412480" y="5020056"/>
            <a:ext cx="2971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Hustle Fund Angel Squad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PrivyMint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1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17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1F3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31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685800" y="137160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We're Building Toward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731520" y="23317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7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1143000" y="2331720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Mainnet deployment once Midnight backend infra stabilizes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731520" y="28346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7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1143000" y="2834640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Technical guidance on privacy-preserving contract design at scale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731520" y="33375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7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1143000" y="3337560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Support progressing through v0.2–v1.0 of the roadmap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731520" y="38404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CF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B7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1143000" y="3840480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Recognition as a flagship privacy-first application on Midnight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12"/>
          <p:cNvCxnSpPr/>
          <p:nvPr/>
        </p:nvCxnSpPr>
        <p:spPr>
          <a:xfrm>
            <a:off x="731520" y="4892040"/>
            <a:ext cx="5943600" cy="0"/>
          </a:xfrm>
          <a:prstGeom prst="straightConnector1">
            <a:avLst/>
          </a:prstGeom>
          <a:noFill/>
          <a:ln cap="flat" cmpd="sng" w="12700">
            <a:solidFill>
              <a:srgbClr val="343A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2"/>
          <p:cNvSpPr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web-puce-seven-56.vercel.app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731520" y="5486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github.com/CoderRahul01/PrivyMint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3C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3C7"/>
                </a:solidFill>
                <a:latin typeface="Calibri"/>
                <a:ea typeface="Calibri"/>
                <a:cs typeface="Calibri"/>
                <a:sym typeface="Calibri"/>
              </a:rPr>
              <a:t>Rahul Pandey  ·  rahulpandey.creates@gmail.com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